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70489" r:id="rId2"/>
    <p:sldId id="2147470492" r:id="rId3"/>
    <p:sldId id="2147470493" r:id="rId4"/>
    <p:sldId id="2147470487" r:id="rId5"/>
    <p:sldId id="2147470494" r:id="rId6"/>
    <p:sldId id="2147470501" r:id="rId7"/>
    <p:sldId id="2147470498" r:id="rId8"/>
    <p:sldId id="2147470497" r:id="rId9"/>
    <p:sldId id="2147470504" r:id="rId10"/>
    <p:sldId id="2147470499" r:id="rId11"/>
    <p:sldId id="2147470502" r:id="rId12"/>
    <p:sldId id="214747050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2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microsoft.com/office/2007/relationships/hdphoto" Target="../media/hdphoto3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M.Tech/MCA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30603" y="1520884"/>
            <a:ext cx="11428184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Review III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Project Title</a:t>
            </a:r>
          </a:p>
          <a:p>
            <a:pPr lvl="0" algn="ctr"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AEGIE : A Research Framework for Adaptive Agentic AI Based Voice Interview Evaluation</a:t>
            </a: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Team Member</a:t>
            </a:r>
          </a:p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DHASLIM N (251011007)</a:t>
            </a:r>
          </a:p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T9951</a:t>
            </a: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9" name="Picture 2" descr="LTIMindtree - Technology Consulting and Digital Solutions Company">
            <a:extLst>
              <a:ext uri="{FF2B5EF4-FFF2-40B4-BE49-F238E27FC236}">
                <a16:creationId xmlns:a16="http://schemas.microsoft.com/office/drawing/2014/main" id="{B3D78849-E5F7-1DB2-227F-142445861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52667"/>
            <a:ext cx="3886489" cy="864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>
              <a:lnSpc>
                <a:spcPct val="150000"/>
              </a:lnSpc>
            </a:pPr>
            <a:r>
              <a:rPr lang="en-IN" dirty="0">
                <a:latin typeface="+mn-lt"/>
              </a:rPr>
              <a:t>AEGIE is a voice-based AI system for technical interview evaluation.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+mn-lt"/>
              </a:rPr>
              <a:t>NVIDIA Parakeet converts the candidate’s spoken answer into text. </a:t>
            </a:r>
          </a:p>
          <a:p>
            <a:pPr lvl="0">
              <a:lnSpc>
                <a:spcPct val="150000"/>
              </a:lnSpc>
            </a:pPr>
            <a:r>
              <a:rPr lang="en-IN" dirty="0" err="1">
                <a:latin typeface="+mn-lt"/>
              </a:rPr>
              <a:t>MiniLM</a:t>
            </a:r>
            <a:r>
              <a:rPr lang="en-IN" dirty="0">
                <a:latin typeface="+mn-lt"/>
              </a:rPr>
              <a:t> checks the answer at whole-answer, sentence, and concept levels.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+mn-lt"/>
              </a:rPr>
              <a:t>Agentic AI is used to evaluate the response, select the next question, and show feedback.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2579914" y="0"/>
            <a:ext cx="96120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            AEGIE : A Research Framework for Adaptive Agentic AI Based Voice Interview Evaluation</a:t>
            </a:r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>
              <a:lnSpc>
                <a:spcPct val="150000"/>
              </a:lnSpc>
            </a:pPr>
            <a:r>
              <a:rPr lang="en-IN" dirty="0">
                <a:latin typeface="+mn-lt"/>
              </a:rPr>
              <a:t>Convert the candidate’s voice response into text automatically.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+mn-lt"/>
              </a:rPr>
              <a:t>Measure delivery features such as speaking rate, fillers, and pauses.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+mn-lt"/>
              </a:rPr>
              <a:t>Compare the answer with expected technical content using </a:t>
            </a:r>
            <a:r>
              <a:rPr lang="en-IN" dirty="0" err="1">
                <a:latin typeface="+mn-lt"/>
              </a:rPr>
              <a:t>MiniLM</a:t>
            </a:r>
            <a:r>
              <a:rPr lang="en-IN" dirty="0">
                <a:latin typeface="+mn-lt"/>
              </a:rPr>
              <a:t>.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+mn-lt"/>
              </a:rPr>
              <a:t>Adapt the next question difficulty and provide clear feedback.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2514601" y="57036"/>
            <a:ext cx="967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             AEGIE : A Research Framework for Adaptive Agentic AI Based Voice Interview Evaluation</a:t>
            </a:r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8"/>
            <a:ext cx="11718290" cy="4868318"/>
          </a:xfrm>
        </p:spPr>
        <p:txBody>
          <a:bodyPr/>
          <a:lstStyle/>
          <a:p>
            <a:pPr lvl="0">
              <a:lnSpc>
                <a:spcPct val="100000"/>
              </a:lnSpc>
            </a:pPr>
            <a:r>
              <a:rPr lang="en-IN" dirty="0">
                <a:highlight>
                  <a:srgbClr val="FFFFFF"/>
                </a:highlight>
                <a:latin typeface="+mn-lt"/>
              </a:rPr>
              <a:t>Speech Processing Module – records voice and converts speech into text using NVIDIA Parakeet. </a:t>
            </a:r>
          </a:p>
          <a:p>
            <a:pPr lvl="0">
              <a:lnSpc>
                <a:spcPct val="100000"/>
              </a:lnSpc>
            </a:pPr>
            <a:r>
              <a:rPr lang="en-IN" dirty="0">
                <a:highlight>
                  <a:srgbClr val="FFFFFF"/>
                </a:highlight>
                <a:latin typeface="+mn-lt"/>
              </a:rPr>
              <a:t>Semantic Analysis Module – compares the response with reference content using </a:t>
            </a:r>
            <a:r>
              <a:rPr lang="en-IN" dirty="0" err="1">
                <a:highlight>
                  <a:srgbClr val="FFFFFF"/>
                </a:highlight>
                <a:latin typeface="+mn-lt"/>
              </a:rPr>
              <a:t>MiniLM</a:t>
            </a:r>
            <a:r>
              <a:rPr lang="en-IN" dirty="0">
                <a:highlight>
                  <a:srgbClr val="FFFFFF"/>
                </a:highlight>
                <a:latin typeface="+mn-lt"/>
              </a:rPr>
              <a:t>. </a:t>
            </a:r>
          </a:p>
          <a:p>
            <a:pPr lvl="0">
              <a:lnSpc>
                <a:spcPct val="100000"/>
              </a:lnSpc>
            </a:pPr>
            <a:r>
              <a:rPr lang="en-IN" dirty="0">
                <a:highlight>
                  <a:srgbClr val="FFFFFF"/>
                </a:highlight>
                <a:latin typeface="+mn-lt"/>
              </a:rPr>
              <a:t>Adaptive Agent Module – selects the next question difficulty from the current evidence. </a:t>
            </a:r>
          </a:p>
          <a:p>
            <a:pPr lvl="0">
              <a:lnSpc>
                <a:spcPct val="100000"/>
              </a:lnSpc>
            </a:pPr>
            <a:r>
              <a:rPr lang="en-IN" dirty="0">
                <a:highlight>
                  <a:srgbClr val="FFFFFF"/>
                </a:highlight>
                <a:latin typeface="+mn-lt"/>
              </a:rPr>
              <a:t>Feedback Module – displays semantic evidence, speech measures, and the final prototype level.</a:t>
            </a:r>
          </a:p>
          <a:p>
            <a:pPr marL="0" indent="0">
              <a:lnSpc>
                <a:spcPct val="100000"/>
              </a:lnSpc>
              <a:buNone/>
            </a:pPr>
            <a:endParaRPr lang="en-US" b="0" i="0" dirty="0">
              <a:solidFill>
                <a:srgbClr val="242424"/>
              </a:solidFill>
              <a:effectLst/>
              <a:highlight>
                <a:srgbClr val="FFFFFF"/>
              </a:highlight>
              <a:latin typeface="+mn-lt"/>
            </a:endParaRPr>
          </a:p>
          <a:p>
            <a:pPr lvl="1">
              <a:lnSpc>
                <a:spcPct val="100000"/>
              </a:lnSpc>
            </a:pPr>
            <a:endParaRPr lang="en-US" sz="2800" dirty="0">
              <a:solidFill>
                <a:srgbClr val="1C3898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name 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3026229" y="57036"/>
            <a:ext cx="9165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AEGIE : A Research Framework for Adaptive Agentic AI Based Voice Interview Evaluation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5" y="1271219"/>
            <a:ext cx="11838033" cy="4142989"/>
          </a:xfrm>
        </p:spPr>
        <p:txBody>
          <a:bodyPr/>
          <a:lstStyle/>
          <a:p>
            <a:pPr lvl="0">
              <a:lnSpc>
                <a:spcPct val="150000"/>
              </a:lnSpc>
            </a:pPr>
            <a:r>
              <a:rPr lang="en-IN" dirty="0">
                <a:latin typeface="+mn-lt"/>
              </a:rPr>
              <a:t>Traditional technical interviews depend heavily on manual evaluation by interviewers.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+mn-lt"/>
              </a:rPr>
              <a:t>Different interviewers may judge the same answer in different ways.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+mn-lt"/>
              </a:rPr>
              <a:t>Existing systems often focus on only speech features or only answer content.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+mn-lt"/>
              </a:rPr>
              <a:t>AEGIE combines voice analysis, semantic evidence, adaptive questioning, and feedback in one system.</a:t>
            </a:r>
          </a:p>
          <a:p>
            <a:pPr marL="0" indent="0">
              <a:lnSpc>
                <a:spcPct val="150000"/>
              </a:lnSpc>
              <a:buNone/>
            </a:pPr>
            <a:endParaRPr lang="en-US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Problem Statement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2438401" y="57036"/>
            <a:ext cx="975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                  AEGIE : A Research Framework for Adaptive Agentic AI Based Voice Interview Evaluation</a:t>
            </a:r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3BE5C-251C-23E3-8F19-EE2DB3009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2C3DBE-E507-D889-A890-2C56D2A659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5" y="1271219"/>
            <a:ext cx="11511461" cy="4142989"/>
          </a:xfrm>
        </p:spPr>
        <p:txBody>
          <a:bodyPr/>
          <a:lstStyle/>
          <a:p>
            <a:pPr lvl="0" algn="just">
              <a:lnSpc>
                <a:spcPct val="150000"/>
              </a:lnSpc>
            </a:pPr>
            <a:r>
              <a:rPr lang="en-IN" dirty="0">
                <a:latin typeface="+mn-lt"/>
              </a:rPr>
              <a:t>Record the candidate’s spoken response through the interview interface. </a:t>
            </a:r>
          </a:p>
          <a:p>
            <a:pPr lvl="0" algn="just">
              <a:lnSpc>
                <a:spcPct val="150000"/>
              </a:lnSpc>
            </a:pPr>
            <a:r>
              <a:rPr lang="en-IN" dirty="0">
                <a:latin typeface="+mn-lt"/>
              </a:rPr>
              <a:t>Convert speech to text and extract WPM, filler words, and pauses. </a:t>
            </a:r>
          </a:p>
          <a:p>
            <a:pPr lvl="0" algn="just">
              <a:lnSpc>
                <a:spcPct val="150000"/>
              </a:lnSpc>
            </a:pPr>
            <a:r>
              <a:rPr lang="en-IN" dirty="0">
                <a:latin typeface="+mn-lt"/>
              </a:rPr>
              <a:t>Use </a:t>
            </a:r>
            <a:r>
              <a:rPr lang="en-IN" dirty="0" err="1">
                <a:latin typeface="+mn-lt"/>
              </a:rPr>
              <a:t>MiniLM</a:t>
            </a:r>
            <a:r>
              <a:rPr lang="en-IN" dirty="0">
                <a:latin typeface="+mn-lt"/>
              </a:rPr>
              <a:t> to measure whole-answer, sentence-level, and concept-level similarity. </a:t>
            </a:r>
          </a:p>
          <a:p>
            <a:pPr lvl="0" algn="just">
              <a:lnSpc>
                <a:spcPct val="150000"/>
              </a:lnSpc>
            </a:pPr>
            <a:r>
              <a:rPr lang="en-IN" dirty="0">
                <a:latin typeface="+mn-lt"/>
              </a:rPr>
              <a:t>Use the evidence to select the next question difficulty and display the final feedback.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ABB59C-76FD-5246-4EEE-72212BF64AE4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Methodology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4BC82A4-B382-2A00-3070-17B2B47F169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8E73589-106E-E0B7-D90D-C7E75D0CB2B6}"/>
              </a:ext>
            </a:extLst>
          </p:cNvPr>
          <p:cNvSpPr txBox="1"/>
          <p:nvPr/>
        </p:nvSpPr>
        <p:spPr>
          <a:xfrm>
            <a:off x="2068287" y="57036"/>
            <a:ext cx="101237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AEGIE : A Research Framework for Adaptive Agentic AI Based Voice Interview Evaluation</a:t>
            </a:r>
          </a:p>
          <a:p>
            <a:pPr algn="r"/>
            <a:endParaRPr lang="en-US" sz="1800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5818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7B675-E694-7663-D55C-2461C40B8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433592-8155-CD6F-B5E3-78AB52F31D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5" y="1271219"/>
            <a:ext cx="11304633" cy="4142989"/>
          </a:xfrm>
        </p:spPr>
        <p:txBody>
          <a:bodyPr/>
          <a:lstStyle/>
          <a:p>
            <a:pPr lvl="0" algn="just">
              <a:lnSpc>
                <a:spcPct val="150000"/>
              </a:lnSpc>
            </a:pPr>
            <a:r>
              <a:rPr lang="en-IN" dirty="0">
                <a:latin typeface="+mn-lt"/>
              </a:rPr>
              <a:t>NVIDIA Parakeet is used for speech-to-text transcription. </a:t>
            </a:r>
          </a:p>
          <a:p>
            <a:pPr lvl="0" algn="just">
              <a:lnSpc>
                <a:spcPct val="150000"/>
              </a:lnSpc>
            </a:pPr>
            <a:r>
              <a:rPr lang="en-IN" dirty="0" err="1">
                <a:latin typeface="+mn-lt"/>
              </a:rPr>
              <a:t>MiniLM</a:t>
            </a:r>
            <a:r>
              <a:rPr lang="en-IN" dirty="0">
                <a:latin typeface="+mn-lt"/>
              </a:rPr>
              <a:t> is used for semantic similarity and concept matching. </a:t>
            </a:r>
          </a:p>
          <a:p>
            <a:pPr lvl="0" algn="just">
              <a:lnSpc>
                <a:spcPct val="150000"/>
              </a:lnSpc>
            </a:pPr>
            <a:r>
              <a:rPr lang="en-IN" dirty="0">
                <a:latin typeface="+mn-lt"/>
              </a:rPr>
              <a:t>Rule-based Agentic AI controls Easy, Medium, and Hard question adaptation. </a:t>
            </a:r>
          </a:p>
          <a:p>
            <a:pPr lvl="0" algn="just">
              <a:lnSpc>
                <a:spcPct val="150000"/>
              </a:lnSpc>
            </a:pPr>
            <a:r>
              <a:rPr lang="en-IN" dirty="0">
                <a:latin typeface="+mn-lt"/>
              </a:rPr>
              <a:t>Python, Flask, and </a:t>
            </a:r>
            <a:r>
              <a:rPr lang="en-IN" dirty="0" err="1">
                <a:latin typeface="+mn-lt"/>
              </a:rPr>
              <a:t>MLflow</a:t>
            </a:r>
            <a:r>
              <a:rPr lang="en-IN" dirty="0">
                <a:latin typeface="+mn-lt"/>
              </a:rPr>
              <a:t> are used for application development and experiment tracking.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243BDD-B44E-04F0-FA93-336DD2FFA770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Approach/Algorithms/Tools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963133-FFA1-7CF4-9FAD-E6A120EF423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EA3EC9D-D5AF-E54C-A3D0-5E42F32DC03B}"/>
              </a:ext>
            </a:extLst>
          </p:cNvPr>
          <p:cNvSpPr txBox="1"/>
          <p:nvPr/>
        </p:nvSpPr>
        <p:spPr>
          <a:xfrm>
            <a:off x="2416629" y="57036"/>
            <a:ext cx="97753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AEGIE : A Research Framework for Adaptive Agentic AI Based Voice Interview Evaluation</a:t>
            </a:r>
          </a:p>
          <a:p>
            <a:pPr algn="r"/>
            <a:endParaRPr lang="en-US" sz="1800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944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988948" cy="4142989"/>
          </a:xfrm>
        </p:spPr>
        <p:txBody>
          <a:bodyPr/>
          <a:lstStyle/>
          <a:p>
            <a:pPr lvl="0" algn="just">
              <a:lnSpc>
                <a:spcPct val="100000"/>
              </a:lnSpc>
            </a:pPr>
            <a:r>
              <a:rPr lang="en-IN" dirty="0">
                <a:latin typeface="+mn-lt"/>
              </a:rPr>
              <a:t>The five-question prototype completed the full voice-to-feedback workflow successfully. </a:t>
            </a:r>
          </a:p>
          <a:p>
            <a:pPr lvl="0" algn="just">
              <a:lnSpc>
                <a:spcPct val="100000"/>
              </a:lnSpc>
            </a:pPr>
            <a:r>
              <a:rPr lang="en-IN" dirty="0">
                <a:latin typeface="+mn-lt"/>
              </a:rPr>
              <a:t>Average speaking rate was 117.33 WPM, with 1 filler and 10 pauses recorded. </a:t>
            </a:r>
          </a:p>
          <a:p>
            <a:pPr lvl="0" algn="just">
              <a:lnSpc>
                <a:spcPct val="100000"/>
              </a:lnSpc>
            </a:pPr>
            <a:r>
              <a:rPr lang="en-IN" dirty="0">
                <a:latin typeface="+mn-lt"/>
              </a:rPr>
              <a:t>Mean whole-answer similarity was 0.6522 and mean concept similarity was 0.4994. </a:t>
            </a:r>
          </a:p>
          <a:p>
            <a:pPr lvl="0" algn="just">
              <a:lnSpc>
                <a:spcPct val="100000"/>
              </a:lnSpc>
            </a:pPr>
            <a:r>
              <a:rPr lang="en-IN" dirty="0">
                <a:latin typeface="+mn-lt"/>
              </a:rPr>
              <a:t>The final prototype evidence score was 0.5605, which falls in the Intermediate range.</a:t>
            </a:r>
          </a:p>
          <a:p>
            <a:pPr marL="0" indent="0" algn="just">
              <a:lnSpc>
                <a:spcPct val="100000"/>
              </a:lnSpc>
              <a:buNone/>
            </a:pPr>
            <a:endParaRPr lang="en-US" b="0" dirty="0">
              <a:solidFill>
                <a:srgbClr val="5583D1"/>
              </a:solidFill>
              <a:latin typeface="+mn-lt"/>
            </a:endParaRPr>
          </a:p>
          <a:p>
            <a:pPr marL="0" indent="0" algn="just">
              <a:lnSpc>
                <a:spcPct val="100000"/>
              </a:lnSpc>
              <a:buNone/>
            </a:pPr>
            <a:endParaRPr lang="en-US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Findings and Results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1567663" y="57036"/>
            <a:ext cx="106243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AEGIE : A Research Framework for Adaptive Agentic AI Based Voice Interview Evaluation</a:t>
            </a:r>
          </a:p>
          <a:p>
            <a:pPr algn="r"/>
            <a:endParaRPr lang="en-US" sz="1800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AA9965B-C62A-926B-205A-906DE14894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688" y="781050"/>
            <a:ext cx="4655684" cy="42699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B388470-70C4-4BE2-305F-DA42E8343F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5713" y="922565"/>
            <a:ext cx="4655684" cy="4269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99291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5BBC5-46B5-0DF4-A2AC-5289D2957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7872131-A6C0-4ECF-9994-EA002B6EAD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5" y="1271219"/>
            <a:ext cx="11065147" cy="4585293"/>
          </a:xfrm>
        </p:spPr>
        <p:txBody>
          <a:bodyPr/>
          <a:lstStyle/>
          <a:p>
            <a:pPr lvl="0" algn="just">
              <a:lnSpc>
                <a:spcPct val="100000"/>
              </a:lnSpc>
            </a:pPr>
            <a:r>
              <a:rPr lang="en-IN" dirty="0">
                <a:latin typeface="+mn-lt"/>
              </a:rPr>
              <a:t>AEGIE successfully combines voice processing, semantic analysis, adaptive questioning, and feedback in one workflow. </a:t>
            </a:r>
          </a:p>
          <a:p>
            <a:pPr lvl="0" algn="just">
              <a:lnSpc>
                <a:spcPct val="100000"/>
              </a:lnSpc>
            </a:pPr>
            <a:r>
              <a:rPr lang="en-IN" dirty="0">
                <a:latin typeface="+mn-lt"/>
              </a:rPr>
              <a:t>NVIDIA Parakeet and </a:t>
            </a:r>
            <a:r>
              <a:rPr lang="en-IN" dirty="0" err="1">
                <a:latin typeface="+mn-lt"/>
              </a:rPr>
              <a:t>MiniLM</a:t>
            </a:r>
            <a:r>
              <a:rPr lang="en-IN" dirty="0">
                <a:latin typeface="+mn-lt"/>
              </a:rPr>
              <a:t> provide speech transcription and semantic evidence for each response. </a:t>
            </a:r>
          </a:p>
          <a:p>
            <a:pPr lvl="0" algn="just">
              <a:lnSpc>
                <a:spcPct val="100000"/>
              </a:lnSpc>
            </a:pPr>
            <a:r>
              <a:rPr lang="en-IN" dirty="0">
                <a:latin typeface="+mn-lt"/>
              </a:rPr>
              <a:t>The prototype can adapt question difficulty using the evidence generated from the current answer. </a:t>
            </a:r>
          </a:p>
          <a:p>
            <a:pPr lvl="0" algn="just">
              <a:lnSpc>
                <a:spcPct val="100000"/>
              </a:lnSpc>
            </a:pPr>
            <a:r>
              <a:rPr lang="en-IN" dirty="0">
                <a:latin typeface="+mn-lt"/>
              </a:rPr>
              <a:t>Future work will use real participant data and expert evaluation to improve calibration and validation.</a:t>
            </a:r>
          </a:p>
          <a:p>
            <a:pPr marL="0" indent="0" algn="just">
              <a:lnSpc>
                <a:spcPct val="100000"/>
              </a:lnSpc>
              <a:buNone/>
            </a:pPr>
            <a:endParaRPr lang="en-US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EA9949-295E-B2C7-8E3A-639B0AD48F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Conclusion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3477A6-BED1-8211-5527-9030F1E8694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B5AC1E1-8B68-1019-1B7A-0CF7BDC8B3EC}"/>
              </a:ext>
            </a:extLst>
          </p:cNvPr>
          <p:cNvSpPr txBox="1"/>
          <p:nvPr/>
        </p:nvSpPr>
        <p:spPr>
          <a:xfrm>
            <a:off x="2068287" y="57036"/>
            <a:ext cx="101237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AEGIE : A Research Framework for Adaptive Agentic AI Based Voice Interview Evaluation</a:t>
            </a:r>
          </a:p>
          <a:p>
            <a:pPr algn="r"/>
            <a:endParaRPr lang="en-US" sz="1800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8371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56F40-96CC-DEF8-9EB7-145237237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E03C842-0779-BE44-EECA-2F2EE3FA730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 algn="just">
              <a:lnSpc>
                <a:spcPct val="100000"/>
              </a:lnSpc>
            </a:pPr>
            <a:r>
              <a:rPr lang="en-IN" dirty="0">
                <a:latin typeface="+mn-lt"/>
              </a:rPr>
              <a:t>I thank my project guide for continuous guidance and technical support. </a:t>
            </a:r>
          </a:p>
          <a:p>
            <a:pPr lvl="0" algn="just">
              <a:lnSpc>
                <a:spcPct val="100000"/>
              </a:lnSpc>
            </a:pPr>
            <a:r>
              <a:rPr lang="en-IN" dirty="0">
                <a:latin typeface="+mn-lt"/>
              </a:rPr>
              <a:t>I thank the faculty members of Rajalakshmi Engineering College for their suggestions. </a:t>
            </a:r>
          </a:p>
          <a:p>
            <a:pPr lvl="0" algn="just">
              <a:lnSpc>
                <a:spcPct val="100000"/>
              </a:lnSpc>
            </a:pPr>
            <a:r>
              <a:rPr lang="en-IN" dirty="0">
                <a:latin typeface="+mn-lt"/>
              </a:rPr>
              <a:t>I thank the industry mentor from L&amp;T </a:t>
            </a:r>
            <a:r>
              <a:rPr lang="en-IN" dirty="0" err="1">
                <a:latin typeface="+mn-lt"/>
              </a:rPr>
              <a:t>EduTech</a:t>
            </a:r>
            <a:r>
              <a:rPr lang="en-IN" dirty="0">
                <a:latin typeface="+mn-lt"/>
              </a:rPr>
              <a:t> for valuable project inputs. </a:t>
            </a:r>
          </a:p>
          <a:p>
            <a:pPr lvl="0" algn="just">
              <a:lnSpc>
                <a:spcPct val="100000"/>
              </a:lnSpc>
            </a:pPr>
            <a:r>
              <a:rPr lang="en-IN" dirty="0">
                <a:latin typeface="+mn-lt"/>
              </a:rPr>
              <a:t>I also thank my department and institution for providing the required support and facilities.</a:t>
            </a:r>
          </a:p>
          <a:p>
            <a:pPr marL="0" indent="0" algn="just">
              <a:lnSpc>
                <a:spcPct val="100000"/>
              </a:lnSpc>
              <a:buNone/>
            </a:pPr>
            <a:endParaRPr lang="en-US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DDE408-8E1E-6FA2-7CC4-7953936B171B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 err="1">
                <a:solidFill>
                  <a:srgbClr val="5B9BD5">
                    <a:lumMod val="50000"/>
                  </a:srgbClr>
                </a:solidFill>
              </a:rPr>
              <a:t>Acknowledgement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AC8EE7-5ED3-D96C-9268-8B7B9A5D057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06C5A91-6D8B-7A46-6BA9-7AF0BB8742E7}"/>
              </a:ext>
            </a:extLst>
          </p:cNvPr>
          <p:cNvSpPr txBox="1"/>
          <p:nvPr/>
        </p:nvSpPr>
        <p:spPr>
          <a:xfrm>
            <a:off x="2852057" y="57036"/>
            <a:ext cx="93399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AEGIE : A Research Framework for Adaptive Agentic AI Based Voice Interview Evaluation</a:t>
            </a:r>
          </a:p>
          <a:p>
            <a:pPr algn="r"/>
            <a:endParaRPr lang="en-US" sz="1800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3488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C1BA9-EED8-0553-15DB-7AC5ADC07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1E11D5E-73A6-DACE-A314-51CBCF3D39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457200" lvl="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IN" sz="2400" dirty="0"/>
              <a:t>Reimers and I. </a:t>
            </a:r>
            <a:r>
              <a:rPr lang="en-IN" sz="2400" dirty="0" err="1"/>
              <a:t>Gurevych</a:t>
            </a:r>
            <a:r>
              <a:rPr lang="en-IN" sz="2400" dirty="0"/>
              <a:t>, “Sentence-BERT: Sentence Embeddings Using Siamese BERT-Networks,” 2019. </a:t>
            </a:r>
          </a:p>
          <a:p>
            <a:pPr marL="457200" lvl="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IN" sz="2400" dirty="0"/>
              <a:t>W. Wang et al., “</a:t>
            </a:r>
            <a:r>
              <a:rPr lang="en-IN" sz="2400" dirty="0" err="1"/>
              <a:t>MiniLM</a:t>
            </a:r>
            <a:r>
              <a:rPr lang="en-IN" sz="2400" dirty="0"/>
              <a:t>: Deep Self-Attention Distillation for Task-Agnostic Compression of Pre-Trained Transformers,” 2020. </a:t>
            </a:r>
          </a:p>
          <a:p>
            <a:pPr marL="457200" lvl="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IN" sz="2400" dirty="0"/>
              <a:t>I. Naim et al., “Automated Analysis and Prediction of Job Interview Performance,” IEEE Trans. Affect. </a:t>
            </a:r>
            <a:r>
              <a:rPr lang="en-IN" sz="2400" dirty="0" err="1"/>
              <a:t>Comput</a:t>
            </a:r>
            <a:r>
              <a:rPr lang="en-IN" sz="2400" dirty="0"/>
              <a:t>., 2018. </a:t>
            </a:r>
          </a:p>
          <a:p>
            <a:pPr marL="457200" lvl="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IN" sz="2400" dirty="0"/>
              <a:t>H.-Y. Suen et al., “Intelligent Video Interview Agent Used to Predict Communication Skill and Perceived Personality Traits,” 2020.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6CD0F3-77A2-E482-9F59-462941CA9EF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Reference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EF328B9-B5B2-A4C8-C436-49616B481A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9E96C34-B06E-814D-72EC-EF1F6BBFAAF7}"/>
              </a:ext>
            </a:extLst>
          </p:cNvPr>
          <p:cNvSpPr txBox="1"/>
          <p:nvPr/>
        </p:nvSpPr>
        <p:spPr>
          <a:xfrm>
            <a:off x="2547257" y="57036"/>
            <a:ext cx="96447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AEGIE : A Research Framework for Adaptive Agentic AI Based Voice Interview Evaluation</a:t>
            </a:r>
          </a:p>
          <a:p>
            <a:pPr algn="r"/>
            <a:endParaRPr lang="en-US" sz="1800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9890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279</TotalTime>
  <Words>756</Words>
  <Application>Microsoft Office PowerPoint</Application>
  <PresentationFormat>Widescreen</PresentationFormat>
  <Paragraphs>76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(Body)</vt:lpstr>
      <vt:lpstr>Frutiger 45 bold</vt:lpstr>
      <vt:lpstr>Frutiger LT Pro 45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Dhaslim N</cp:lastModifiedBy>
  <cp:revision>15</cp:revision>
  <dcterms:created xsi:type="dcterms:W3CDTF">2024-05-13T10:33:11Z</dcterms:created>
  <dcterms:modified xsi:type="dcterms:W3CDTF">2026-10-04T12:27:08Z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