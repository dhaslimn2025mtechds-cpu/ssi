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4" r:id="rId10"/>
    <p:sldId id="2147470499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4E097-6586-D503-8F25-C45E38CC452A}"/>
              </a:ext>
            </a:extLst>
          </p:cNvPr>
          <p:cNvSpPr txBox="1"/>
          <p:nvPr userDrawn="1"/>
        </p:nvSpPr>
        <p:spPr>
          <a:xfrm>
            <a:off x="4552122" y="0"/>
            <a:ext cx="763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Service Sense AI – Customer Complaint Classification &amp; Resolution Intellig</a:t>
            </a:r>
            <a:r>
              <a:rPr lang="en-US" dirty="0">
                <a:solidFill>
                  <a:schemeClr val="bg1"/>
                </a:solidFill>
              </a:rPr>
              <a:t>ence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 err="1">
                <a:latin typeface="+mn-lt"/>
              </a:rPr>
              <a:t>ServiceSense</a:t>
            </a:r>
            <a:r>
              <a:rPr lang="en-IN" dirty="0">
                <a:latin typeface="+mn-lt"/>
              </a:rPr>
              <a:t> AI is designed to automate and improve customer complaint resolution.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It combines semantic classification with hybrid retrieval to understand customer issues.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An uncertainty-aware mechanism identifies ambiguous complaints and requests clarification.</a:t>
            </a:r>
          </a:p>
          <a:p>
            <a:pPr lvl="0" algn="just">
              <a:lnSpc>
                <a:spcPct val="100000"/>
              </a:lnSpc>
            </a:pP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enables multi-turn interaction, satisfaction checking, re-resolution, and escalation.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547257" y="57036"/>
            <a:ext cx="964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 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Classify customer complaints accurately using semantic embeddings and machine learning.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Retrieve relevant support responses using BM25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-FAISS hybrid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Detect uncertain cases and decide whether to resolve, clarify, or escalate the complaint.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Provide multi-turn resolution with satisfaction checking and human escalation when required.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993571" y="57036"/>
            <a:ext cx="919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57440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Classification Module: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MiniLM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 embeddings and Logistic Regression identify customer intent.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Retrieval Module: BM25 and FAISS retrieve relevant customer-support information.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Decision Module: RRF, Cross-Encoder, and uncertainty logic select reliable results.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Agent Module: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LangGraph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 manages clarification, resolution, follow-up, and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993571" y="57036"/>
            <a:ext cx="919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Traditional complaint classification systems mainly provide single-turn predictions or responses.</a:t>
            </a:r>
          </a:p>
          <a:p>
            <a:pPr lvl="0"/>
            <a:r>
              <a:rPr lang="en-IN" dirty="0">
                <a:latin typeface="+mn-lt"/>
              </a:rPr>
              <a:t>Ambiguous customer complaints can result in incorrect intent prediction and unsuitable resolutions.</a:t>
            </a:r>
          </a:p>
          <a:p>
            <a:pPr lvl="0"/>
            <a:r>
              <a:rPr lang="en-IN" dirty="0">
                <a:latin typeface="+mn-lt"/>
              </a:rPr>
              <a:t>Single retrieval methods may fail to capture both keyword relevance and semantic similarity.</a:t>
            </a:r>
          </a:p>
          <a:p>
            <a:pPr lvl="0"/>
            <a:r>
              <a:rPr lang="en-IN" dirty="0">
                <a:latin typeface="+mn-lt"/>
              </a:rPr>
              <a:t>A stateful system is required to clarify uncertainty and continue until resolution or escalation.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581401" y="57036"/>
            <a:ext cx="861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Customer complaints are converted into semantic embeddings using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and classified by Logistic Regression.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BM25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-FAISS independently retrieve keyword-based and semantically similar complaints.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RRF combines retrieval rankings, while a Cross-Encoder re-ranks the most relevant candidates.</a:t>
            </a:r>
          </a:p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manages uncertainty decisions, clarification, resolution, satisfaction checking, and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091543" y="57036"/>
            <a:ext cx="9100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Classification: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embeddings with Logistic Regression for intent prediction and confidence estimation.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Retrieval: BM25 +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-FAISS with Reciprocal Rank Fusion for hybrid information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Decision &amp; Agent: Cross-Encoder, uncertainty logic, and </a:t>
            </a: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for stateful multi-turn resolution.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Development &amp; Deployment: Python, Flask, Scikit-learn, Sentence Transformers, </a:t>
            </a:r>
            <a:r>
              <a:rPr lang="en-IN" dirty="0" err="1">
                <a:latin typeface="+mn-lt"/>
              </a:rPr>
              <a:t>MLflow</a:t>
            </a:r>
            <a:r>
              <a:rPr lang="en-IN" dirty="0">
                <a:latin typeface="+mn-lt"/>
              </a:rPr>
              <a:t>, and Docker.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688771" y="57036"/>
            <a:ext cx="9503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Semantic intent classification achieved 99.40% accuracy on the controlled test split.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Leakage-free retrieval achieved 99.00% Recall@1 and 99.33% Recall@3 and Recall@5.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The hybrid retrieval pipeline obtained an MRR of 0.9911 on 300 held-out queries.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The agentic workflow passed 7/7 predefined tests, covering clarification through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733801" y="57036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5EE4C1-13C0-8AC6-02FB-CEEC7E421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791722"/>
              </p:ext>
            </p:extLst>
          </p:nvPr>
        </p:nvGraphicFramePr>
        <p:xfrm>
          <a:off x="2032000" y="719666"/>
          <a:ext cx="8128000" cy="5223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54134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84817383"/>
                    </a:ext>
                  </a:extLst>
                </a:gridCol>
              </a:tblGrid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sz="28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sz="2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675603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Classification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99.40%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77495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Recall@1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99.00%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40947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99.33%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4484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Agentic Workflow Test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100% (7/7 tests)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9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89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ServiceSense</a:t>
            </a:r>
            <a:r>
              <a:rPr lang="en-IN" dirty="0">
                <a:latin typeface="+mn-lt"/>
              </a:rPr>
              <a:t> AI extends complaint classification into a stateful multi-turn resolution framework.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Hybrid retrieval combines keyword and semantic information for more relevant support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Uncertainty handling reduces the risk of immediately answering ambiguous customer complaints.</a:t>
            </a:r>
          </a:p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enables clarification, satisfaction checking, re-resolution, and human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514601" y="57036"/>
            <a:ext cx="967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sincerely thank my project guide for continuous guidance and valuable suggestions.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thank the faculty members for their support throughout the project development.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acknowledge L&amp;T </a:t>
            </a:r>
            <a:r>
              <a:rPr lang="en-IN" dirty="0" err="1">
                <a:latin typeface="+mn-lt"/>
              </a:rPr>
              <a:t>EduTech</a:t>
            </a:r>
            <a:r>
              <a:rPr lang="en-IN" dirty="0">
                <a:latin typeface="+mn-lt"/>
              </a:rPr>
              <a:t> and </a:t>
            </a:r>
            <a:r>
              <a:rPr lang="en-IN" dirty="0" err="1">
                <a:latin typeface="+mn-lt"/>
              </a:rPr>
              <a:t>LTIMindtree</a:t>
            </a:r>
            <a:r>
              <a:rPr lang="en-IN" dirty="0">
                <a:latin typeface="+mn-lt"/>
              </a:rPr>
              <a:t> for providing the industry-integrated learning opportunity.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also thank everyone who supported the successful development and evaluation of this project.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2688771" y="57036"/>
            <a:ext cx="9503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Reimers, N. &amp; </a:t>
            </a:r>
            <a:r>
              <a:rPr lang="en-IN" sz="2400" dirty="0" err="1"/>
              <a:t>Gurevych</a:t>
            </a:r>
            <a:r>
              <a:rPr lang="en-IN" sz="2400" dirty="0"/>
              <a:t>, I. — Sentence-BERT: Sentence Embeddings using Siamese BERT-Networks.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Johnson, J. et al. — Billion-scale Similarity Search with GPUs (FAISS).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Cormack, G. et al. — Reciprocal Rank Fusion Outperforms Condorcet and Individual Rank Learning Methods.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Robertson, S. &amp; Zaragoza, H. — The Probabilistic Relevance Framework: BM25 and Beyond.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873829" y="57036"/>
            <a:ext cx="9318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733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Dhaslim N</cp:lastModifiedBy>
  <cp:revision>15</cp:revision>
  <dcterms:created xsi:type="dcterms:W3CDTF">2024-05-13T10:33:11Z</dcterms:created>
  <dcterms:modified xsi:type="dcterms:W3CDTF">2026-10-04T16:33:52Z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